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AI TRANSIT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00D4AA"/>
                </a:solidFill>
                <a:latin typeface="Calibri"/>
              </a:rPr>
              <a:t>Sécuriser l'intégration du code IA en entreprise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520440"/>
            <a:ext cx="11274552" cy="25400"/>
          </a:xfrm>
          <a:prstGeom prst="rect">
            <a:avLst/>
          </a:prstGeom>
          <a:solidFill>
            <a:srgbClr val="889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3749039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CDDEE"/>
                </a:solidFill>
                <a:latin typeface="Calibri"/>
              </a:rPr>
              <a:t>🔍  Récupération sécurisée depuis GitHub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CCDDEE"/>
                </a:solidFill>
                <a:latin typeface="Calibri"/>
              </a:rPr>
              <a:t>🛡️   Scan multicouche adaptatif par type de fichier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CCDDEE"/>
                </a:solidFill>
                <a:latin typeface="Calibri"/>
              </a:rPr>
              <a:t>📦  Archive ZIP approuvée + rapport Excel de traçabilité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9AA"/>
                </a:solidFill>
                <a:latin typeface="Calibri"/>
              </a:rPr>
              <a:t>Version 1.0  —  Juin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Sommaire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37160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41732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Contexte &amp; objectifs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58568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2395728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441448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Architecture du 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82696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19856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465576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Phase 1 — Récupération sécurisée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06824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4443984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89704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Phase 2 — Scan multicouche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30952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" y="5468112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513832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Détail des checks par type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234440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36208" y="137160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141732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Outils utilisés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2258568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36208" y="2395728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441448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Résultats &amp; livrables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3282696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36208" y="3419856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3465576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Règles de sécurité absolues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6480" y="4306824"/>
            <a:ext cx="5394960" cy="868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36208" y="4443984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489704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Exploitation &amp; assurance qualité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01  Contexte &amp; Objectifs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A8FF"/>
                </a:solidFill>
                <a:latin typeface="Calibri"/>
              </a:rPr>
              <a:t>Pourquoi ce pipeline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7132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CCDDEE"/>
                </a:solidFill>
                <a:latin typeface="Calibri"/>
              </a:rPr>
              <a:t>🤖  Le code IA généré peut contenir des backdoors, secrets ou patterns dangereux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CCDDEE"/>
                </a:solidFill>
                <a:latin typeface="Calibri"/>
              </a:rPr>
              <a:t>📥  Les développeurs importent du code sans revue de sécurité systématique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CCDDEE"/>
                </a:solidFill>
                <a:latin typeface="Calibri"/>
              </a:rPr>
              <a:t>🏢  Le réseau d'entreprise doit rester isolé (air-gap partiel)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CCDDEE"/>
                </a:solidFill>
                <a:latin typeface="Calibri"/>
              </a:rPr>
              <a:t>📋  Aucune traçabilité sans processus structuré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011680"/>
            <a:ext cx="960120" cy="868680"/>
          </a:xfrm>
          <a:prstGeom prst="roundRect">
            <a:avLst>
              <a:gd name="adj" fmla="val 8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🌐 Internet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(GitHub)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2011680"/>
            <a:ext cx="960120" cy="868680"/>
          </a:xfrm>
          <a:prstGeom prst="roundRect">
            <a:avLst>
              <a:gd name="adj" fmla="val 8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🛡️ Pipeline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AI Transit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24160" y="2011680"/>
            <a:ext cx="960120" cy="868680"/>
          </a:xfrm>
          <a:prstGeom prst="roundRect">
            <a:avLst>
              <a:gd name="adj" fmla="val 8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🏢 Réseau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interne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17152" y="22860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4432" y="22860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0175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899AA"/>
                </a:solidFill>
                <a:latin typeface="Calibri"/>
              </a:rPr>
              <a:t>Flux
unidirectionnel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D4AA"/>
                </a:solidFill>
                <a:latin typeface="Calibri"/>
              </a:rPr>
              <a:t>Objectifs clés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63440"/>
            <a:ext cx="2743200" cy="16916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475488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7548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Récupérer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1208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Clone sécurisé depth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4663440"/>
            <a:ext cx="2743200" cy="16916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83280" y="475488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47548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Scanner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521208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Multicouche adaptatif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663440"/>
            <a:ext cx="2743200" cy="16916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475488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47548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Décider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21208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PASS → ZIP  /  FAIL → Quarantaine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4663440"/>
            <a:ext cx="2743200" cy="16916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35440" y="475488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0" y="47548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Tracer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521208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Rapport Excel + JSON + HTML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D1B2A"/>
                </a:solidFill>
                <a:latin typeface="Calibri"/>
              </a:rPr>
              <a:t>02  Architecture du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108960" cy="822960"/>
          </a:xfrm>
          <a:prstGeom prst="roundRect">
            <a:avLst>
              <a:gd name="adj" fmla="val 5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5272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📂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GitHub / Local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48840"/>
            <a:ext cx="3108960" cy="822960"/>
          </a:xfrm>
          <a:prstGeom prst="roundRect">
            <a:avLst>
              <a:gd name="adj" fmla="val 5000"/>
            </a:avLst>
          </a:prstGeom>
          <a:solidFill>
            <a:srgbClr val="255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⬇  fetch_repo.sh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108960"/>
            <a:ext cx="3108960" cy="822960"/>
          </a:xfrm>
          <a:prstGeom prst="roundRect">
            <a:avLst>
              <a:gd name="adj" fmla="val 5000"/>
            </a:avLst>
          </a:prstGeom>
          <a:solidFill>
            <a:srgbClr val="854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17296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🔍 scan_pipeline.sh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2044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26280"/>
            <a:ext cx="3108960" cy="822960"/>
          </a:xfrm>
          <a:prstGeom prst="roundRect">
            <a:avLst>
              <a:gd name="adj" fmla="val 5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9028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✔ Good/ (ZIP + Excel)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94960"/>
            <a:ext cx="3108960" cy="822960"/>
          </a:xfrm>
          <a:prstGeom prst="roundRect">
            <a:avLst>
              <a:gd name="adj" fmla="val 5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45896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✘ quarantine/ (chmod 700)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20574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8899AA"/>
                </a:solidFill>
                <a:latin typeface="Calibri"/>
              </a:rPr>
              <a:t>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0175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8899AA"/>
                </a:solidFill>
                <a:latin typeface="Calibri"/>
              </a:rPr>
              <a:t>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34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  <a:latin typeface="Calibri"/>
              </a:rPr>
              <a:t>PASS 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434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FAIL 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11887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A8FF"/>
                </a:solidFill>
                <a:latin typeface="Calibri"/>
              </a:rPr>
              <a:t>Phase 1 — fetch_repo.sh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164592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Whitelist hôtes (github.com uniquement)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Vérif. taille via API GitHub (&lt; 500 MB)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git clone --depth 1 --no-tags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Suppression .git/ (pas de metadata)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Manifest SHA-256 de tous les fichiers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✦  Triage rapide patterns suspects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11887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  <a:latin typeface="Calibri"/>
              </a:rPr>
              <a:t>Phase 2 — scan_pipeline.sh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1645920"/>
            <a:ext cx="3931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🌐  Couche GLOBALE 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Gitleaks · detect-secrets · ClamAV · YARA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📄  Couche PAR TYPE 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.py → Bandit + eval/exec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.js/.ts → Semgrep + child_process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.sh → ShellCheck + curl|bash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.yml → actions non-pinnées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.tf → checkov + secrets hardcodés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Dockerfile → hadolint + :latest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CDDEE"/>
                </a:solidFill>
                <a:latin typeface="Calibri"/>
              </a:rPr>
              <a:t>     .so/.exe → FAIL auto + strings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D1B2A"/>
                </a:solidFill>
                <a:latin typeface="Calibri"/>
              </a:rPr>
              <a:t>03  Phase 1 — Récupération sécurisée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3441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8FF"/>
                </a:solidFill>
                <a:latin typeface="Calibri"/>
              </a:rPr>
              <a:t>Whitelist hôtes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Seul github.com est autorisé. Toute autre URL est rejetée immédiatement.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3444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07408" y="13441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AA"/>
                </a:solidFill>
                <a:latin typeface="Calibri"/>
              </a:rPr>
              <a:t>Vérification taille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9202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Appel API GitHub : taille du repo vérifiée avant tout clone. Limite : 500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23444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39328" y="13441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1C40F"/>
                </a:solidFill>
                <a:latin typeface="Calibri"/>
              </a:rPr>
              <a:t>Clone minimal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9202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git clone --depth 1 --no-tags --single-branch
Historique zéro, surface d'attaque minimale.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84048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5488" y="39502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977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C12"/>
                </a:solidFill>
                <a:latin typeface="Calibri"/>
              </a:rPr>
              <a:t>Suppression .git/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52628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Les métadonnées Git (hooks, remotes, submodules) sont entièrement supprimées.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84048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07408" y="39502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3977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070FF"/>
                </a:solidFill>
                <a:latin typeface="Calibri"/>
              </a:rPr>
              <a:t>Manifest SHA-256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52628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Hash SHA-256 de chaque fichier → fichier .manifest_sha256.txt pour audit d'intégrité.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840480"/>
            <a:ext cx="3749039" cy="23774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9328" y="39502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D1B2A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3977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  <a:latin typeface="Calibri"/>
              </a:rPr>
              <a:t>Triage rapide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52628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Grep sur eval(, exec(, curl|bash, rm -rf → alerte immédiate avant scan approfondi.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04  Phase 2 — Couche globale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CCDDEE"/>
                </a:solidFill>
                <a:latin typeface="Calibri"/>
              </a:rPr>
              <a:t>S'applique à TOUT le répertoire, quel que soit le type de fichier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691640"/>
            <a:ext cx="2788920" cy="48920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91640"/>
            <a:ext cx="2788920" cy="59436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7373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🔑  Gitleaks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4231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Tokens GitHub / GitLab / AWS / GCP / Azure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1089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Clés privées RSA, PEM, SSH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7947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Clés API Stripe, Twilio, SendGrid, JWT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80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&gt; 150 types de credentials couverts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1663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Analyse entropique + règles regex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446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 si positif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1691640"/>
            <a:ext cx="2788920" cy="48920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91840" y="1691640"/>
            <a:ext cx="2788920" cy="594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4992" y="17373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📊  detect-secrets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24231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Entropie de Shannon sur les chaînes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1089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Détecte les secrets inconnus des règles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7947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Base64 et hex à haute densité aléatoire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480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Complémentaire à Gitleaks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1663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Outil Yelp (battle-tested en production)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0" y="6446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 si positif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1691640"/>
            <a:ext cx="2788920" cy="48920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1691640"/>
            <a:ext cx="2788920" cy="5943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36792" y="17373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🦠  ClamAV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4231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Millions de signatures malware connues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Trojans, ransomwares, backdoors, exploits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7947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Scan récursif de tous les fichiers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480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Base mise à jour via freshclam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51663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Détection de binaires embarqués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86600" y="6446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 si positif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35440" y="1691640"/>
            <a:ext cx="2788920" cy="48920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35440" y="1691640"/>
            <a:ext cx="2788920" cy="59436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08592" y="17373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🎯  YARA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24231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Standard industriel IOC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31089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Règles .yar personnalisées dans yara-rules/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37947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Patterns propres aux backdoors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0" y="44805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Combinaison : regex + logique booléenne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516636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• Extensible à volonté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0" y="644652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 si positif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04  Phase 2 — Dispatch par type de fichier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1600200" cy="438912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70432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Extension(s)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5960" y="1143000"/>
            <a:ext cx="2240280" cy="438912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117043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Outil SAST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143000"/>
            <a:ext cx="5486400" cy="438912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17043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Checks manuels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21240" y="1143000"/>
            <a:ext cx="1828800" cy="438912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0" y="117043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Verdict défaut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6184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16642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65960" y="16184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16642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Bandit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16184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16642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eval() exec() import os/subprocess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16184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0" y="16642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075688"/>
            <a:ext cx="16002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1214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.js .ts .jsx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65960" y="2075688"/>
            <a:ext cx="224028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21214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Semgrep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2075688"/>
            <a:ext cx="54864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21214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eval() child_process require(…)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21240" y="2075688"/>
            <a:ext cx="18288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66960" y="21214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5328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25786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.c .cpp .h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65960" y="25328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25786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cppcheck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43400" y="25328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25786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gets() strcpy() system() popen()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21240" y="25328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66960" y="25786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2990088"/>
            <a:ext cx="16002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30358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.sh .bash .ps1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65960" y="2990088"/>
            <a:ext cx="224028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11680" y="30358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ShellCheck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43400" y="2990088"/>
            <a:ext cx="54864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0" y="30358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curl|bash  wget|sh  eval $var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21240" y="2990088"/>
            <a:ext cx="18288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6960" y="30358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4472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34930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.yml .yaml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65960" y="34472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11680" y="34930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43400" y="34472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0" y="34930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Actions non-pinnées  secrets inline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21240" y="34472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66960" y="34930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3904487"/>
            <a:ext cx="16002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3950207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.tf .tfvars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65960" y="3904487"/>
            <a:ext cx="224028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11680" y="3950207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checkov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43400" y="3904487"/>
            <a:ext cx="54864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89120" y="3950207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Secrets en dur  IAM trop larges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921240" y="3904487"/>
            <a:ext cx="18288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966960" y="3950207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43616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0040" y="44074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Dockerfile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965960" y="43616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011680" y="44074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hadolint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43400" y="43616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89120" y="44074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:latest  ADD http://  RUN curl|bash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921240" y="43616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966960" y="44074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4818888"/>
            <a:ext cx="16002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20040" y="48646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.so .exe .elf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965960" y="4818888"/>
            <a:ext cx="224028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11680" y="48646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strings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343400" y="4818888"/>
            <a:ext cx="54864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89120" y="48646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FAIL automatique + recherche IOC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921240" y="4818888"/>
            <a:ext cx="18288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966960" y="48646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 ⚠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52760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20040" y="53218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.zip .tar.gz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965960" y="52760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11680" y="53218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43400" y="52760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389120" y="53218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FAIL auto — extraction + re-scan requis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921240" y="52760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966960" y="53218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 ⚠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5733288"/>
            <a:ext cx="16002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0040" y="57790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.sql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965960" y="5733288"/>
            <a:ext cx="224028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11680" y="57790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343400" y="5733288"/>
            <a:ext cx="54864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389120" y="57790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xp_cmdshell  DROP TABLE  injection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921240" y="5733288"/>
            <a:ext cx="1828800" cy="420624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966960" y="57790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74320" y="6190488"/>
            <a:ext cx="16002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20040" y="62362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DEE"/>
                </a:solidFill>
                <a:latin typeface="Calibri"/>
              </a:rPr>
              <a:t>.json .md .txt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965960" y="6190488"/>
            <a:ext cx="224028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011680" y="62362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A8FF"/>
                </a:solidFill>
                <a:latin typeface="Calibri"/>
              </a:rPr>
              <a:t>—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343400" y="6190488"/>
            <a:ext cx="54864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389120" y="623620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password: secret: token: api_key=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921240" y="6190488"/>
            <a:ext cx="1828800" cy="420624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966960" y="623620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05  Détail des vérifications par 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669280" cy="50292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Python 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Langage à exécution dynamique — risque élevé de backdoors via eval/exec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Bandit SAST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Analyse AST Python : subprocess shell=True, pickle, MD5, SQL injection, assert sécurité…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eval() / exec()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arbitraire de code à l'exécution — backdoor triviale dans du code IA généré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70916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7457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import os/subprocess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0" y="47731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WARN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12064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Accès au shell système — légitime mais nécessite revue manuelle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1143000"/>
            <a:ext cx="5669280" cy="5029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JavaScript/TS .js .ts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Écosystème exposé aux supply-chain attacks et à l'exécution dynamique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Semgrep p/javascript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8992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XSS, prototype pollution, innerHTML, open redirect, SSTI…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eval()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78992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dynamique de code — vecteur classique d'injection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70916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47457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child_process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789920" y="47731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12064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de commandes shell depuis Node.js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05  Détail des vérifications par 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669280" cy="5029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C / C++ .c 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Risques liés à la gestion manuelle de la mémoire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cppcheck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Buffer overflows, null ptr, use-after-free, mémoire non initialisée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gets()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Lecture sans limite de taille → buffer overflow garanti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70916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7457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strcpy()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0" y="47731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12064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Copie sans vérification de taille → débordement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897880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93445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system()/popen()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0" y="59618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30936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de commandes shell → injection 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1143000"/>
            <a:ext cx="5669280" cy="502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Shell .sh .bash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Exécution directe — syntaxe propice à l'obfuscation de commandes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ShellCheck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78992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Variables non quotées, globbing, redirections dangereuses…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curl | bash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78992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de code distant sans vérification d'intégrité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470916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47457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eval $variable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789920" y="47731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12064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Injection triviale si la variable est contrôlée par un attaquant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05  Détail des vérifications par 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669280" cy="50292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YAML / CI .yml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Pipelines CI/CD — une mauvaise config ouvre des backdoors d'infrastructure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Actions non-pinnées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uses: action@main — vulnérable au tag-hijacking si le tag est réécrit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Secrets 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password: valeur_en_clair (pas ${{ secrets.XXX }})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1143000"/>
            <a:ext cx="5669280" cy="54864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143000"/>
            <a:ext cx="5669280" cy="5029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1795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Terraform .tf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7099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AA"/>
                </a:solidFill>
                <a:latin typeface="Calibri"/>
              </a:rPr>
              <a:t>Code IaC — peut provisionner des ressources cloud entières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331720"/>
            <a:ext cx="5486400" cy="1078992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6829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checkov (CIS)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789920" y="239572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743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Buckets S3 sans chiffrement, IAM trop larges, BDD sans chiffrement at-rest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520439"/>
            <a:ext cx="5486400" cy="1078992"/>
          </a:xfrm>
          <a:prstGeom prst="rect">
            <a:avLst/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557015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Secrets en dur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89920" y="358444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93191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password = "valeur", token = "valeur" dans les fichiers .tf/.tfvars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02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05  Détail des vérifications par type (suite)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5760720" cy="25146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760720" cy="4572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Dockerfile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37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hadolint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391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Best practices CIS Docker : :latest, ADD http://, apt sans --no-install-recommends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423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RUN curl|bash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7249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Téléchargement + exécution sans contrôle d'intégrité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188720"/>
            <a:ext cx="5760720" cy="25146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59" y="1188720"/>
            <a:ext cx="5760720" cy="457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799" y="123444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Binaires .so .exe .elf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19" y="1737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FAIL automatique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19" y="20391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Aucun binaire précompilé dans un repo IA — implant/RAT potentiel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19" y="2423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strings + IOC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19" y="27249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Extraction des chaînes : URLs, /bin/sh, /etc/passwd, exec, shell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3931920"/>
            <a:ext cx="5760720" cy="25146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3931920"/>
            <a:ext cx="5760720" cy="457200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97764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Archives .zip .tar.gz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480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FAIL automatique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7823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Contenu non scannable sans extraction préalable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166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Zip-slip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4681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Extraction vers des chemins arbitraires (../../etc/cron.d/)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59" y="3931920"/>
            <a:ext cx="5760720" cy="25146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59" y="3931920"/>
            <a:ext cx="5760720" cy="457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799" y="397764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SQL .sql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19" y="4480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xp_cmdshell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19" y="47823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Exécution de commandes shell depuis SQL Server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19" y="5166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DROP TABLE/DATABASE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19" y="54681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Instructions destructrices dans du code IA généré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19" y="5852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Calibri"/>
              </a:rPr>
              <a:t>• ; --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19" y="61539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Pattern classique d'injection SQL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D1B2A"/>
                </a:solidFill>
                <a:latin typeface="Calibri"/>
              </a:rPr>
              <a:t>06  Outils utilisés — Synthèse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39C12"/>
                </a:solidFill>
                <a:latin typeface="Calibri"/>
              </a:rPr>
              <a:t>⚡  Tous optionnels en dégradé — WARN si absent, FAIL uniquement sur finding actif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72768"/>
            <a:ext cx="2240280" cy="384048"/>
          </a:xfrm>
          <a:prstGeom prst="rect">
            <a:avLst/>
          </a:prstGeom>
          <a:solidFill>
            <a:srgbClr val="106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600200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Outil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572768"/>
            <a:ext cx="3520440" cy="384048"/>
          </a:xfrm>
          <a:prstGeom prst="rect">
            <a:avLst/>
          </a:prstGeom>
          <a:solidFill>
            <a:srgbClr val="106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Rôle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572768"/>
            <a:ext cx="3291840" cy="384048"/>
          </a:xfrm>
          <a:prstGeom prst="rect">
            <a:avLst/>
          </a:prstGeom>
          <a:solidFill>
            <a:srgbClr val="106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00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Installation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0" y="1572768"/>
            <a:ext cx="2286000" cy="384048"/>
          </a:xfrm>
          <a:prstGeom prst="rect">
            <a:avLst/>
          </a:prstGeom>
          <a:solidFill>
            <a:srgbClr val="106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160020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Scope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993392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" y="2039112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8FF"/>
                </a:solidFill>
                <a:latin typeface="Calibri"/>
              </a:rPr>
              <a:t>Gitleaks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1993392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70048" y="2039112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secrets/tokens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993392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81928" y="203911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GitHub binary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0" y="1993392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5208" y="203911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Global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432304"/>
            <a:ext cx="224028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" y="2478024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8FF"/>
                </a:solidFill>
                <a:latin typeface="Calibri"/>
              </a:rPr>
              <a:t>detect-secrets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06040" y="2432304"/>
            <a:ext cx="35204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70048" y="2478024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entropie élevée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432304"/>
            <a:ext cx="32918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1928" y="247802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pip install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432304"/>
            <a:ext cx="228600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5208" y="247802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Global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871216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" y="2916936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39C12"/>
                </a:solidFill>
                <a:latin typeface="Calibri"/>
              </a:rPr>
              <a:t>ClamAV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06040" y="2871216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70048" y="2916936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malware signatures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2871216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1928" y="291693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apt install clamav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0" y="2871216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65208" y="291693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Global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310128"/>
            <a:ext cx="224028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328" y="335584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70FF"/>
                </a:solidFill>
                <a:latin typeface="Calibri"/>
              </a:rPr>
              <a:t>YARA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06040" y="3310128"/>
            <a:ext cx="35204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70048" y="3355848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IOC personnalisés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310128"/>
            <a:ext cx="32918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81928" y="335584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apt install yara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01200" y="3310128"/>
            <a:ext cx="228600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65208" y="3355848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Global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3749039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8328" y="3794759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1C40F"/>
                </a:solidFill>
                <a:latin typeface="Calibri"/>
              </a:rPr>
              <a:t>Bandit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06040" y="3749039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70048" y="3794759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SAST Python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3749039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81928" y="37947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pip install bandit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01200" y="3749039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65208" y="3794759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187952"/>
            <a:ext cx="224028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8328" y="4233672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1C40F"/>
                </a:solidFill>
                <a:latin typeface="Calibri"/>
              </a:rPr>
              <a:t>Semgrep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06040" y="4187952"/>
            <a:ext cx="35204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670048" y="4233672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SAST multi-lang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4187952"/>
            <a:ext cx="32918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81928" y="423367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pip install semgrep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601200" y="4187952"/>
            <a:ext cx="228600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65208" y="423367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.js .ts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4626864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8328" y="4672584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cppcheck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06040" y="4626864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670048" y="4672584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analyse statique C/C++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7920" y="4626864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81928" y="46725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apt install cppcheck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601200" y="4626864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65208" y="467258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.c .cpp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5065776"/>
            <a:ext cx="224028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38328" y="5111496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ShellCheck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606040" y="5065776"/>
            <a:ext cx="35204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70048" y="5111496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lint shell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17920" y="5065776"/>
            <a:ext cx="32918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81928" y="511149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apt install shellcheck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601200" y="5065776"/>
            <a:ext cx="228600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665208" y="511149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.sh .bash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5504688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38328" y="555040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CC71"/>
                </a:solidFill>
                <a:latin typeface="Calibri"/>
              </a:rPr>
              <a:t>hadolint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606040" y="5504688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670048" y="5550408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lint Dockerfile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17920" y="5504688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81928" y="555040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GitHub binary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01200" y="5504688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65208" y="5550408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Dockerfile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5943600"/>
            <a:ext cx="224028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38328" y="5989320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CC71"/>
                </a:solidFill>
                <a:latin typeface="Calibri"/>
              </a:rPr>
              <a:t>checkov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606040" y="5943600"/>
            <a:ext cx="35204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670048" y="5989320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sécurité IaC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17920" y="5943600"/>
            <a:ext cx="329184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81928" y="59893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pip install checkov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601200" y="5943600"/>
            <a:ext cx="2286000" cy="402336"/>
          </a:xfrm>
          <a:prstGeom prst="rect">
            <a:avLst/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665208" y="59893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.tf .hcl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74320" y="6382512"/>
            <a:ext cx="224028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38328" y="6428232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99AA"/>
                </a:solidFill>
                <a:latin typeface="Calibri"/>
              </a:rPr>
              <a:t>jq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606040" y="6382512"/>
            <a:ext cx="35204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670048" y="6428232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parsing JSON API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17920" y="6382512"/>
            <a:ext cx="329184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81928" y="642823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apt install jq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601200" y="6382512"/>
            <a:ext cx="2286000" cy="402336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665208" y="642823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Utilitaire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07  Résultats — Archive approuvée &amp; Rapport Excel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5303520" cy="5440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5029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1615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📦  Archive ZIP  →  Good/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5029200" cy="1691640"/>
          </a:xfrm>
          <a:prstGeom prst="rect">
            <a:avLst/>
          </a:prstGeom>
          <a:solidFill>
            <a:srgbClr val="060F18"/>
          </a:solidFill>
          <a:ln w="1270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920240"/>
            <a:ext cx="4809744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FFFD4"/>
                </a:solidFill>
                <a:latin typeface="Courier New"/>
              </a:rPr>
              <a:t>Good/</a:t>
            </a:r>
          </a:p>
          <a:p>
            <a:r>
              <a:rPr sz="1100">
                <a:solidFill>
                  <a:srgbClr val="7FFFD4"/>
                </a:solidFill>
                <a:latin typeface="Courier New"/>
              </a:rPr>
              <a:t>└── repo_20260615_143022.zip</a:t>
            </a:r>
          </a:p>
          <a:p>
            <a:r>
              <a:rPr sz="1100">
                <a:solidFill>
                  <a:srgbClr val="7FFFD4"/>
                </a:solidFill>
                <a:latin typeface="Courier New"/>
              </a:rPr>
              <a:t>    ├── src/</a:t>
            </a:r>
          </a:p>
          <a:p>
            <a:r>
              <a:rPr sz="1100">
                <a:solidFill>
                  <a:srgbClr val="7FFFD4"/>
                </a:solidFill>
                <a:latin typeface="Courier New"/>
              </a:rPr>
              <a:t>    │   └── [code source complet]</a:t>
            </a:r>
          </a:p>
          <a:p>
            <a:r>
              <a:rPr sz="1100">
                <a:solidFill>
                  <a:srgbClr val="7FFFD4"/>
                </a:solidFill>
                <a:latin typeface="Courier New"/>
              </a:rPr>
              <a:t>    ├── README.md</a:t>
            </a:r>
          </a:p>
          <a:p>
            <a:r>
              <a:rPr sz="1100">
                <a:solidFill>
                  <a:srgbClr val="7FFFD4"/>
                </a:solidFill>
                <a:latin typeface="Courier New"/>
              </a:rPr>
              <a:t>    └── scan_report_20260615.xlsx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611880"/>
            <a:ext cx="51206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Produite uniquement si verdict PASS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Nom horodaté — unicité garantie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.manifest_sha256.txt exclu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Rapport Excel inclus directement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Prête au transfert réseau interne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CDDEE"/>
                </a:solidFill>
                <a:latin typeface="Calibri"/>
              </a:rPr>
              <a:t>✔  Optionnel : chiffrement GPG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188720"/>
            <a:ext cx="6035040" cy="544068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0" y="1188720"/>
            <a:ext cx="6035040" cy="502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216152"/>
            <a:ext cx="5852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📊  Rapport Excel (.xlsx)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828800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AA"/>
                </a:solidFill>
                <a:latin typeface="Calibri"/>
              </a:rPr>
              <a:t>Onglet 0 — Résumé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286000"/>
            <a:ext cx="2377440" cy="365760"/>
          </a:xfrm>
          <a:prstGeom prst="rect">
            <a:avLst/>
          </a:prstGeom>
          <a:solidFill>
            <a:srgbClr val="1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322576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Dépôt / 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322576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URL GitHub ou chemin local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2688336"/>
            <a:ext cx="2377440" cy="365760"/>
          </a:xfrm>
          <a:prstGeom prst="rect">
            <a:avLst/>
          </a:prstGeom>
          <a:solidFill>
            <a:srgbClr val="1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53328" y="2724912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Date du scan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24912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Horodatage ISO 8601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090672"/>
            <a:ext cx="2377440" cy="365760"/>
          </a:xfrm>
          <a:prstGeom prst="rect">
            <a:avLst/>
          </a:prstGeom>
          <a:solidFill>
            <a:srgbClr val="1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53328" y="3127248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Hash SHA-256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27248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Empreinte globale de tous les fichiers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3493008"/>
            <a:ext cx="2377440" cy="365760"/>
          </a:xfrm>
          <a:prstGeom prst="rect">
            <a:avLst/>
          </a:prstGeom>
          <a:solidFill>
            <a:srgbClr val="1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3529584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Verdict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29584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PASS (vert) / FAIL (rouge)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3895344"/>
            <a:ext cx="2377440" cy="365760"/>
          </a:xfrm>
          <a:prstGeom prst="rect">
            <a:avLst/>
          </a:prstGeom>
          <a:solidFill>
            <a:srgbClr val="1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53328" y="3931920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  <a:latin typeface="Calibri"/>
              </a:rPr>
              <a:t>Compteurs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931920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PASS · WARN · FAIL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4343400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C40F"/>
                </a:solidFill>
                <a:latin typeface="Calibri"/>
              </a:rPr>
              <a:t>Onglet 1 — Fichiers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4773168"/>
            <a:ext cx="1143000" cy="347472"/>
          </a:xfrm>
          <a:prstGeom prst="rect">
            <a:avLst/>
          </a:prstGeom>
          <a:solidFill>
            <a:srgbClr val="30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16752" y="4800600"/>
            <a:ext cx="1115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99AA"/>
                </a:solidFill>
                <a:latin typeface="Calibri"/>
              </a:rPr>
              <a:t>#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59752" y="4773168"/>
            <a:ext cx="1143000" cy="347472"/>
          </a:xfrm>
          <a:prstGeom prst="rect">
            <a:avLst/>
          </a:prstGeom>
          <a:solidFill>
            <a:srgbClr val="30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87184" y="4800600"/>
            <a:ext cx="1115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DDEE"/>
                </a:solidFill>
                <a:latin typeface="Calibri"/>
              </a:rPr>
              <a:t>Fichier (chemin complet)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30183" y="4773168"/>
            <a:ext cx="1143000" cy="347472"/>
          </a:xfrm>
          <a:prstGeom prst="rect">
            <a:avLst/>
          </a:prstGeom>
          <a:solidFill>
            <a:srgbClr val="30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57616" y="4800600"/>
            <a:ext cx="1115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99AA"/>
                </a:solidFill>
                <a:latin typeface="Calibri"/>
              </a:rPr>
              <a:t>Type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0616" y="4773168"/>
            <a:ext cx="1143000" cy="347472"/>
          </a:xfrm>
          <a:prstGeom prst="rect">
            <a:avLst/>
          </a:prstGeom>
          <a:solidFill>
            <a:srgbClr val="30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8048" y="4800600"/>
            <a:ext cx="1115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1C40F"/>
                </a:solidFill>
                <a:latin typeface="Calibri"/>
              </a:rPr>
              <a:t>Statut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671048" y="4773168"/>
            <a:ext cx="1143000" cy="347472"/>
          </a:xfrm>
          <a:prstGeom prst="rect">
            <a:avLst/>
          </a:prstGeom>
          <a:solidFill>
            <a:srgbClr val="30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4800600"/>
            <a:ext cx="1115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DDEE"/>
                </a:solidFill>
                <a:latin typeface="Calibri"/>
              </a:rPr>
              <a:t>Message / Finding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89320" y="5166360"/>
            <a:ext cx="1143000" cy="365760"/>
          </a:xfrm>
          <a:prstGeom prst="rect">
            <a:avLst/>
          </a:prstGeom>
          <a:solidFill>
            <a:srgbClr val="2A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16752" y="5202936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59752" y="5166360"/>
            <a:ext cx="1143000" cy="365760"/>
          </a:xfrm>
          <a:prstGeom prst="rect">
            <a:avLst/>
          </a:prstGeom>
          <a:solidFill>
            <a:srgbClr val="2A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87184" y="5202936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/path/file.py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30183" y="5166360"/>
            <a:ext cx="1143000" cy="365760"/>
          </a:xfrm>
          <a:prstGeom prst="rect">
            <a:avLst/>
          </a:prstGeom>
          <a:solidFill>
            <a:srgbClr val="2A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57616" y="5202936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.py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0616" y="5166360"/>
            <a:ext cx="1143000" cy="365760"/>
          </a:xfrm>
          <a:prstGeom prst="rect">
            <a:avLst/>
          </a:prstGeom>
          <a:solidFill>
            <a:srgbClr val="2A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28048" y="5202936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671048" y="5166360"/>
            <a:ext cx="1143000" cy="365760"/>
          </a:xfrm>
          <a:prstGeom prst="rect">
            <a:avLst/>
          </a:prstGeom>
          <a:solidFill>
            <a:srgbClr val="2A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98480" y="5202936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bandit:Severity:HIGH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5568696"/>
            <a:ext cx="1143000" cy="36576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16752" y="5605272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59752" y="5568696"/>
            <a:ext cx="1143000" cy="36576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87184" y="5605272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/path/config.sh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30183" y="5568696"/>
            <a:ext cx="1143000" cy="36576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57616" y="5605272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.sh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0616" y="5568696"/>
            <a:ext cx="1143000" cy="36576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28048" y="5605272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39C12"/>
                </a:solidFill>
                <a:latin typeface="Calibri"/>
              </a:rPr>
              <a:t>WARN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671048" y="5568696"/>
            <a:ext cx="1143000" cy="365760"/>
          </a:xfrm>
          <a:prstGeom prst="rect">
            <a:avLst/>
          </a:prstGeom>
          <a:solidFill>
            <a:srgbClr val="2A1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698480" y="5605272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shellcheck absent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89320" y="5971032"/>
            <a:ext cx="1143000" cy="365760"/>
          </a:xfrm>
          <a:prstGeom prst="rect">
            <a:avLst/>
          </a:prstGeom>
          <a:solidFill>
            <a:srgbClr val="052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016752" y="6007608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59752" y="5971032"/>
            <a:ext cx="1143000" cy="365760"/>
          </a:xfrm>
          <a:prstGeom prst="rect">
            <a:avLst/>
          </a:prstGeom>
          <a:solidFill>
            <a:srgbClr val="052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87184" y="6007608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/path/main.py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30183" y="5971032"/>
            <a:ext cx="1143000" cy="365760"/>
          </a:xfrm>
          <a:prstGeom prst="rect">
            <a:avLst/>
          </a:prstGeom>
          <a:solidFill>
            <a:srgbClr val="052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7616" y="6007608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.py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00616" y="5971032"/>
            <a:ext cx="1143000" cy="365760"/>
          </a:xfrm>
          <a:prstGeom prst="rect">
            <a:avLst/>
          </a:prstGeom>
          <a:solidFill>
            <a:srgbClr val="052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28048" y="6007608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CC71"/>
                </a:solidFill>
                <a:latin typeface="Calibri"/>
              </a:rPr>
              <a:t>PASS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671048" y="5971032"/>
            <a:ext cx="1143000" cy="365760"/>
          </a:xfrm>
          <a:prstGeom prst="rect">
            <a:avLst/>
          </a:prstGeom>
          <a:solidFill>
            <a:srgbClr val="052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698480" y="6007608"/>
            <a:ext cx="1115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EE"/>
                </a:solidFill>
                <a:latin typeface="Calibri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64922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AA"/>
                </a:solidFill>
                <a:latin typeface="Calibri"/>
              </a:rPr>
              <a:t>Trié : FAIL → WARN → PASS  |  Filtre auto  |  Ligne 1 figée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08  Règles de sécurité absolues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  <a:latin typeface="Calibri"/>
              </a:rPr>
              <a:t>⛔  Ces règles NE PEUVENT PAS être modifiées — elles constituent le modèle de menace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64592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4592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70992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🔒  Isolation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1284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La machine de transit n'a JAMAIS accès direct au réseau d'entreprise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4592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64592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0992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➡️  Flux unidirectionnel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21284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Seul approved/ est lisible depuis l'interne — pas fetch/, logs/, quarantine/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29184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29184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35584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🔐  Quarantaine root-only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85876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chmod 700 — aucun utilisateur applicatif ne peut lire les fichiers refusés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29184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29184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35584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🚫  Pas de déplacement manuel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5876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Jamais de quarantine/ → approved/ sans re-scan complet du pipeline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493776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93776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500176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⚠️  Binaires = FAIL absolu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50468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Aucun .so/.exe/.elf dans un repo IA — zéro exception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937760"/>
            <a:ext cx="5806440" cy="150876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4937760"/>
            <a:ext cx="5806440" cy="457200"/>
          </a:xfrm>
          <a:prstGeom prst="rect">
            <a:avLst/>
          </a:prstGeom>
          <a:solidFill>
            <a:srgbClr val="6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500176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  <a:latin typeface="Calibri"/>
              </a:rPr>
              <a:t>📦  Archives = re-scan obligatoire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504688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.zip/.tar.gz nécessitent extraction + re-scan dans un env isolé dédié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21889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09  Exploitation &amp; assurance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74552" cy="2540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A8FF"/>
                </a:solidFill>
                <a:latin typeface="Calibri"/>
              </a:rPr>
              <a:t>Options d'exécution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5394960" cy="28346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AA"/>
                </a:solidFill>
                <a:latin typeface="Calibri"/>
              </a:rPr>
              <a:t>--quiet / --verbose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0116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Verbosité des journaux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1343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AA"/>
                </a:solidFill>
                <a:latin typeface="Calibri"/>
              </a:rPr>
              <a:t>--min-severity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4203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Seuil de blocage : low → critical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84378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AA"/>
                </a:solidFill>
                <a:latin typeface="Calibri"/>
              </a:rPr>
              <a:t>--since COMMIT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07238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Uniquement les fichiers modifiés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3741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AA"/>
                </a:solidFill>
                <a:latin typeface="Calibri"/>
              </a:rPr>
              <a:t>--report-only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602735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Ne bloque jamais, ne met rien en quarantaine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90448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AA"/>
                </a:solidFill>
                <a:latin typeface="Calibri"/>
              </a:rPr>
              <a:t>--no-zip / --no-excel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13308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Rapports seuls, sans archive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CC71"/>
                </a:solidFill>
                <a:latin typeface="Calibri"/>
              </a:rPr>
              <a:t>Le pipeline se vérifie lui-même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600200"/>
            <a:ext cx="5394960" cy="283464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Suite de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0116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70 assertions, aucun outil requis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23134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Corpus de règles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254203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chaque finding doit viser le bon fichier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28437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Garde-fous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307238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le code sûr ne doit jamais être signalé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3374135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Intégration continue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3602735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lint · test · pins · docker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3904487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Validation par mutation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413308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  <a:latin typeface="Calibri"/>
              </a:rPr>
              <a:t>le défaut est réintroduit, le test doit échouer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A8FF"/>
                </a:solidFill>
                <a:latin typeface="Calibri"/>
              </a:rPr>
              <a:t>Contrôles par dépôt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920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8899AA"/>
                </a:solidFill>
                <a:latin typeface="Calibri"/>
              </a:rPr>
              <a:t>.transitignore  —  motifs gitignore, fichiers exclus de toutes les couches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8899AA"/>
                </a:solidFill>
                <a:latin typeface="Calibri"/>
              </a:rPr>
              <a:t>.transit-allow.json  —  rétrograde un FAIL connu en WARN, avec justification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8899AA"/>
                </a:solidFill>
                <a:latin typeface="Calibri"/>
              </a:rPr>
              <a:t>--offline  —  environnement isolé : règles et bases pré-positionnées ; le bloc coverage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8899AA"/>
                </a:solidFill>
                <a:latin typeface="Calibri"/>
              </a:rPr>
              <a:t>                indique, couche par couche, si elle a réellement été exécutée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172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00D4AA"/>
                </a:solidFill>
                <a:latin typeface="Calibri"/>
              </a:rPr>
              <a:t>Une suite qu'on n'a jamais vue échouer n'apporte aucune preuve.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D1B2A"/>
                </a:solidFill>
                <a:latin typeface="Calibri"/>
              </a:rPr>
              <a:t>En résumé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4552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325880"/>
            <a:ext cx="2240280" cy="41148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552" y="1463040"/>
            <a:ext cx="822960" cy="731520"/>
          </a:xfrm>
          <a:prstGeom prst="roundRect">
            <a:avLst>
              <a:gd name="adj" fmla="val 50000"/>
            </a:avLst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  <a:latin typeface="Segoe UI Emoji"/>
              </a:rPr>
              <a:t>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317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FF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3464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  <a:latin typeface="Calibri"/>
              </a:rPr>
              <a:t>GitHub (whitelist) ou chemin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2032" y="315468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24327" y="1325880"/>
            <a:ext cx="2240280" cy="41148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463040"/>
            <a:ext cx="822960" cy="731520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  <a:latin typeface="Segoe UI Emoji"/>
              </a:rPr>
              <a:t>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5767" y="23317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D4AA"/>
                </a:solidFill>
                <a:latin typeface="Calibri"/>
              </a:rPr>
              <a:t>Fetch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7" y="283464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  <a:latin typeface="Calibri"/>
              </a:rPr>
              <a:t>Clone minimal · .git supprimé · SHA-256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15468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1325880"/>
            <a:ext cx="2240280" cy="41148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87568" y="1463040"/>
            <a:ext cx="822960" cy="73152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  <a:latin typeface="Segoe UI Emoji"/>
              </a:rPr>
              <a:t>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5776" y="23317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39C12"/>
                </a:solidFill>
                <a:latin typeface="Calibri"/>
              </a:rPr>
              <a:t>Scan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65776" y="283464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  <a:latin typeface="Calibri"/>
              </a:rPr>
              <a:t>Couche globale + couche par type × 11 extensions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42048" y="315468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24344" y="1325880"/>
            <a:ext cx="2240280" cy="41148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37576" y="1463040"/>
            <a:ext cx="822960" cy="731520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  <a:latin typeface="Segoe UI Emoji"/>
              </a:rPr>
              <a:t>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5784" y="23317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ECC71"/>
                </a:solidFill>
                <a:latin typeface="Calibri"/>
              </a:rPr>
              <a:t>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5784" y="283464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  <a:latin typeface="Calibri"/>
              </a:rPr>
              <a:t>ZIP dans Good/ avec rapport Excel inclus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92055" y="315468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899AA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4352" y="1325880"/>
            <a:ext cx="2240280" cy="4114800"/>
          </a:xfrm>
          <a:prstGeom prst="roundRect">
            <a:avLst>
              <a:gd name="adj" fmla="val 5000"/>
            </a:avLst>
          </a:prstGeom>
          <a:solidFill>
            <a:srgbClr val="1B2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87584" y="1463040"/>
            <a:ext cx="822960" cy="731520"/>
          </a:xfrm>
          <a:prstGeom prst="roundRect">
            <a:avLst>
              <a:gd name="adj" fmla="val 5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  <a:latin typeface="Segoe UI Emoji"/>
              </a:rPr>
              <a:t>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233172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74C3C"/>
                </a:solidFill>
                <a:latin typeface="Calibri"/>
              </a:rPr>
              <a:t>FAIL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5792" y="283464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  <a:latin typeface="Calibri"/>
              </a:rPr>
              <a:t>Quarantaine chmod 700 + rapport JSON/HTML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62356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8899AA"/>
                </a:solidFill>
                <a:latin typeface="Calibri"/>
              </a:rPr>
              <a:t>Pipeline entièrement en bash · Mode dégradé · Outils optionnels · Rapports horodatés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21792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5566"/>
                </a:solidFill>
                <a:latin typeface="Calibri"/>
              </a:rPr>
              <a:t>github.com/Gaillotte/Claude  —  branche claude/vigilant-carson-f8twy0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